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edgwick Ave" charset="1" panose="00000500000000000000"/>
      <p:regular r:id="rId18"/>
    </p:embeddedFont>
    <p:embeddedFont>
      <p:font typeface="Arimo" charset="1" panose="020B0604020202020204"/>
      <p:regular r:id="rId19"/>
    </p:embeddedFont>
    <p:embeddedFont>
      <p:font typeface="IBM Plex Sans" charset="1" panose="020B05030502030002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fonts/font22.fntdata" Type="http://schemas.openxmlformats.org/officeDocument/2006/relationships/font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43.png" Type="http://schemas.openxmlformats.org/officeDocument/2006/relationships/image"/><Relationship Id="rId4" Target="../media/image44.svg" Type="http://schemas.openxmlformats.org/officeDocument/2006/relationships/image"/><Relationship Id="rId5" Target="../media/image45.png" Type="http://schemas.openxmlformats.org/officeDocument/2006/relationships/image"/><Relationship Id="rId6" Target="../media/image46.svg" Type="http://schemas.openxmlformats.org/officeDocument/2006/relationships/image"/><Relationship Id="rId7" Target="../media/image47.png" Type="http://schemas.openxmlformats.org/officeDocument/2006/relationships/image"/><Relationship Id="rId8" Target="../media/image48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media/image67.png" Type="http://schemas.openxmlformats.org/officeDocument/2006/relationships/image"/><Relationship Id="rId16" Target="../media/image68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5.png" Type="http://schemas.openxmlformats.org/officeDocument/2006/relationships/image"/><Relationship Id="rId14" Target="../media/image16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64400" y="0"/>
            <a:ext cx="20040624" cy="10780902"/>
          </a:xfrm>
          <a:custGeom>
            <a:avLst/>
            <a:gdLst/>
            <a:ahLst/>
            <a:cxnLst/>
            <a:rect r="r" b="b" t="t" l="l"/>
            <a:pathLst>
              <a:path h="10780902" w="20040624">
                <a:moveTo>
                  <a:pt x="0" y="0"/>
                </a:moveTo>
                <a:lnTo>
                  <a:pt x="20040624" y="0"/>
                </a:lnTo>
                <a:lnTo>
                  <a:pt x="20040624" y="10780902"/>
                </a:lnTo>
                <a:lnTo>
                  <a:pt x="0" y="107809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144247">
            <a:off x="1346023" y="3253348"/>
            <a:ext cx="11388736" cy="3105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40"/>
              </a:lnSpc>
            </a:pPr>
            <a:r>
              <a:rPr lang="en-US" sz="102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Bike Sales presentation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5909" y="2288498"/>
            <a:ext cx="11045550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RFM Analysis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80050" y="3186400"/>
            <a:ext cx="6741304" cy="6159160"/>
          </a:xfrm>
          <a:custGeom>
            <a:avLst/>
            <a:gdLst/>
            <a:ahLst/>
            <a:cxnLst/>
            <a:rect r="r" b="b" t="t" l="l"/>
            <a:pathLst>
              <a:path h="6159160" w="6741304">
                <a:moveTo>
                  <a:pt x="0" y="0"/>
                </a:moveTo>
                <a:lnTo>
                  <a:pt x="6741304" y="0"/>
                </a:lnTo>
                <a:lnTo>
                  <a:pt x="6741304" y="6159160"/>
                </a:lnTo>
                <a:lnTo>
                  <a:pt x="0" y="61591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840684" y="6256455"/>
            <a:ext cx="2430291" cy="36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1"/>
              </a:lnSpc>
            </a:pPr>
            <a:r>
              <a:rPr lang="en-US" sz="237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by Rana ElBadry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4754" y="1235956"/>
            <a:ext cx="6261870" cy="1645676"/>
          </a:xfrm>
          <a:custGeom>
            <a:avLst/>
            <a:gdLst/>
            <a:ahLst/>
            <a:cxnLst/>
            <a:rect r="r" b="b" t="t" l="l"/>
            <a:pathLst>
              <a:path h="1645676" w="6261870">
                <a:moveTo>
                  <a:pt x="0" y="0"/>
                </a:moveTo>
                <a:lnTo>
                  <a:pt x="6261870" y="0"/>
                </a:lnTo>
                <a:lnTo>
                  <a:pt x="6261870" y="1645676"/>
                </a:lnTo>
                <a:lnTo>
                  <a:pt x="0" y="164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90876" y="3529142"/>
            <a:ext cx="3361008" cy="761760"/>
          </a:xfrm>
          <a:custGeom>
            <a:avLst/>
            <a:gdLst/>
            <a:ahLst/>
            <a:cxnLst/>
            <a:rect r="r" b="b" t="t" l="l"/>
            <a:pathLst>
              <a:path h="761760" w="3361008">
                <a:moveTo>
                  <a:pt x="0" y="0"/>
                </a:moveTo>
                <a:lnTo>
                  <a:pt x="3361008" y="0"/>
                </a:lnTo>
                <a:lnTo>
                  <a:pt x="3361008" y="761760"/>
                </a:lnTo>
                <a:lnTo>
                  <a:pt x="0" y="761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9352" y="493750"/>
            <a:ext cx="3361008" cy="761760"/>
          </a:xfrm>
          <a:custGeom>
            <a:avLst/>
            <a:gdLst/>
            <a:ahLst/>
            <a:cxnLst/>
            <a:rect r="r" b="b" t="t" l="l"/>
            <a:pathLst>
              <a:path h="761760" w="3361008">
                <a:moveTo>
                  <a:pt x="0" y="0"/>
                </a:moveTo>
                <a:lnTo>
                  <a:pt x="3361008" y="0"/>
                </a:lnTo>
                <a:lnTo>
                  <a:pt x="3361008" y="761760"/>
                </a:lnTo>
                <a:lnTo>
                  <a:pt x="0" y="76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06702" y="8479948"/>
            <a:ext cx="3082296" cy="822798"/>
          </a:xfrm>
          <a:custGeom>
            <a:avLst/>
            <a:gdLst/>
            <a:ahLst/>
            <a:cxnLst/>
            <a:rect r="r" b="b" t="t" l="l"/>
            <a:pathLst>
              <a:path h="822798" w="3082296">
                <a:moveTo>
                  <a:pt x="0" y="0"/>
                </a:moveTo>
                <a:lnTo>
                  <a:pt x="3082296" y="0"/>
                </a:lnTo>
                <a:lnTo>
                  <a:pt x="3082296" y="822798"/>
                </a:lnTo>
                <a:lnTo>
                  <a:pt x="0" y="8227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5848" y="6938964"/>
            <a:ext cx="5182348" cy="1141690"/>
          </a:xfrm>
          <a:custGeom>
            <a:avLst/>
            <a:gdLst/>
            <a:ahLst/>
            <a:cxnLst/>
            <a:rect r="r" b="b" t="t" l="l"/>
            <a:pathLst>
              <a:path h="1141690" w="5182348">
                <a:moveTo>
                  <a:pt x="0" y="0"/>
                </a:moveTo>
                <a:lnTo>
                  <a:pt x="5182348" y="0"/>
                </a:lnTo>
                <a:lnTo>
                  <a:pt x="5182348" y="1141690"/>
                </a:lnTo>
                <a:lnTo>
                  <a:pt x="0" y="1141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7550" y="6645636"/>
            <a:ext cx="557390" cy="293664"/>
            <a:chOff x="0" y="0"/>
            <a:chExt cx="743187" cy="391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" y="508"/>
              <a:ext cx="742188" cy="391033"/>
            </a:xfrm>
            <a:custGeom>
              <a:avLst/>
              <a:gdLst/>
              <a:ahLst/>
              <a:cxnLst/>
              <a:rect r="r" b="b" t="t" l="l"/>
              <a:pathLst>
                <a:path h="391033" w="742188">
                  <a:moveTo>
                    <a:pt x="566801" y="0"/>
                  </a:moveTo>
                  <a:cubicBezTo>
                    <a:pt x="458724" y="0"/>
                    <a:pt x="354203" y="107696"/>
                    <a:pt x="317373" y="212598"/>
                  </a:cubicBezTo>
                  <a:lnTo>
                    <a:pt x="246634" y="212598"/>
                  </a:lnTo>
                  <a:cubicBezTo>
                    <a:pt x="104902" y="212598"/>
                    <a:pt x="0" y="283464"/>
                    <a:pt x="0" y="353822"/>
                  </a:cubicBezTo>
                  <a:lnTo>
                    <a:pt x="0" y="391033"/>
                  </a:lnTo>
                  <a:lnTo>
                    <a:pt x="742188" y="391033"/>
                  </a:lnTo>
                  <a:lnTo>
                    <a:pt x="742188" y="36703"/>
                  </a:lnTo>
                  <a:cubicBezTo>
                    <a:pt x="671322" y="0"/>
                    <a:pt x="637667" y="0"/>
                    <a:pt x="566801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50496" y="6248364"/>
            <a:ext cx="2497658" cy="690934"/>
          </a:xfrm>
          <a:custGeom>
            <a:avLst/>
            <a:gdLst/>
            <a:ahLst/>
            <a:cxnLst/>
            <a:rect r="r" b="b" t="t" l="l"/>
            <a:pathLst>
              <a:path h="690934" w="2497658">
                <a:moveTo>
                  <a:pt x="0" y="0"/>
                </a:moveTo>
                <a:lnTo>
                  <a:pt x="2497658" y="0"/>
                </a:lnTo>
                <a:lnTo>
                  <a:pt x="2497658" y="690934"/>
                </a:lnTo>
                <a:lnTo>
                  <a:pt x="0" y="6909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860320" y="1558225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1375" y="3089627"/>
            <a:ext cx="4891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Dataset Overview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20575" y="3089625"/>
            <a:ext cx="4891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Cleanning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64754" y="2901250"/>
            <a:ext cx="489135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Exploratory Data Analysis (EDA)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1375" y="7332599"/>
            <a:ext cx="4891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Feature Extraction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44587" y="5799074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20575" y="1558225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9020" y="1558225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28583" y="7209771"/>
            <a:ext cx="4891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Machine Learning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60320" y="7101225"/>
            <a:ext cx="48913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Data Visualization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60320" y="5567700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06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20575" y="5567700"/>
            <a:ext cx="160515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9000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6564" y="2823404"/>
            <a:ext cx="3159814" cy="822800"/>
          </a:xfrm>
          <a:custGeom>
            <a:avLst/>
            <a:gdLst/>
            <a:ahLst/>
            <a:cxnLst/>
            <a:rect r="r" b="b" t="t" l="l"/>
            <a:pathLst>
              <a:path h="822800" w="3159814">
                <a:moveTo>
                  <a:pt x="0" y="0"/>
                </a:moveTo>
                <a:lnTo>
                  <a:pt x="3159814" y="0"/>
                </a:lnTo>
                <a:lnTo>
                  <a:pt x="3159814" y="822800"/>
                </a:lnTo>
                <a:lnTo>
                  <a:pt x="0" y="82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926" y="1220566"/>
            <a:ext cx="5312682" cy="1199026"/>
          </a:xfrm>
          <a:custGeom>
            <a:avLst/>
            <a:gdLst/>
            <a:ahLst/>
            <a:cxnLst/>
            <a:rect r="r" b="b" t="t" l="l"/>
            <a:pathLst>
              <a:path h="1199026" w="5312682">
                <a:moveTo>
                  <a:pt x="0" y="0"/>
                </a:moveTo>
                <a:lnTo>
                  <a:pt x="5312682" y="0"/>
                </a:lnTo>
                <a:lnTo>
                  <a:pt x="5312682" y="1199026"/>
                </a:lnTo>
                <a:lnTo>
                  <a:pt x="0" y="1199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56750" y="512600"/>
            <a:ext cx="3131192" cy="708312"/>
          </a:xfrm>
          <a:custGeom>
            <a:avLst/>
            <a:gdLst/>
            <a:ahLst/>
            <a:cxnLst/>
            <a:rect r="r" b="b" t="t" l="l"/>
            <a:pathLst>
              <a:path h="708312" w="3131192">
                <a:moveTo>
                  <a:pt x="0" y="0"/>
                </a:moveTo>
                <a:lnTo>
                  <a:pt x="3131192" y="0"/>
                </a:lnTo>
                <a:lnTo>
                  <a:pt x="3131192" y="708312"/>
                </a:lnTo>
                <a:lnTo>
                  <a:pt x="0" y="708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64576" y="846742"/>
            <a:ext cx="4009494" cy="905056"/>
          </a:xfrm>
          <a:custGeom>
            <a:avLst/>
            <a:gdLst/>
            <a:ahLst/>
            <a:cxnLst/>
            <a:rect r="r" b="b" t="t" l="l"/>
            <a:pathLst>
              <a:path h="905056" w="4009494">
                <a:moveTo>
                  <a:pt x="0" y="0"/>
                </a:moveTo>
                <a:lnTo>
                  <a:pt x="4009494" y="0"/>
                </a:lnTo>
                <a:lnTo>
                  <a:pt x="4009494" y="905056"/>
                </a:lnTo>
                <a:lnTo>
                  <a:pt x="0" y="9050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16412" y="4406275"/>
            <a:ext cx="13871588" cy="6351097"/>
          </a:xfrm>
          <a:custGeom>
            <a:avLst/>
            <a:gdLst/>
            <a:ahLst/>
            <a:cxnLst/>
            <a:rect r="r" b="b" t="t" l="l"/>
            <a:pathLst>
              <a:path h="6351097" w="13871588">
                <a:moveTo>
                  <a:pt x="0" y="0"/>
                </a:moveTo>
                <a:lnTo>
                  <a:pt x="13871588" y="0"/>
                </a:lnTo>
                <a:lnTo>
                  <a:pt x="13871588" y="6351097"/>
                </a:lnTo>
                <a:lnTo>
                  <a:pt x="0" y="6351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60326" y="6143625"/>
            <a:ext cx="4539282" cy="4152959"/>
          </a:xfrm>
          <a:custGeom>
            <a:avLst/>
            <a:gdLst/>
            <a:ahLst/>
            <a:cxnLst/>
            <a:rect r="r" b="b" t="t" l="l"/>
            <a:pathLst>
              <a:path h="4152959" w="4539282">
                <a:moveTo>
                  <a:pt x="0" y="0"/>
                </a:moveTo>
                <a:lnTo>
                  <a:pt x="4539282" y="0"/>
                </a:lnTo>
                <a:lnTo>
                  <a:pt x="4539282" y="4152959"/>
                </a:lnTo>
                <a:lnTo>
                  <a:pt x="0" y="41529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6950" y="2219325"/>
            <a:ext cx="15062197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dataset c</a:t>
            </a: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onsists of multiple tables containing transaction-level sales data, customer demographic information, address details, and a list of new customers. It includes both numerical and categorical variables with real-world data quality issues such as missing values and inconsistencies. This structure enables comprehensive customer behavior analysis, value segmentation, and business-focused insights through data modeling and visualization.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6950" y="772329"/>
            <a:ext cx="97687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94206" y="2823404"/>
            <a:ext cx="3159814" cy="822800"/>
          </a:xfrm>
          <a:custGeom>
            <a:avLst/>
            <a:gdLst/>
            <a:ahLst/>
            <a:cxnLst/>
            <a:rect r="r" b="b" t="t" l="l"/>
            <a:pathLst>
              <a:path h="822800" w="3159814">
                <a:moveTo>
                  <a:pt x="0" y="0"/>
                </a:moveTo>
                <a:lnTo>
                  <a:pt x="3159814" y="0"/>
                </a:lnTo>
                <a:lnTo>
                  <a:pt x="3159814" y="822800"/>
                </a:lnTo>
                <a:lnTo>
                  <a:pt x="0" y="822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507850" y="1220566"/>
            <a:ext cx="5312682" cy="1199026"/>
          </a:xfrm>
          <a:custGeom>
            <a:avLst/>
            <a:gdLst/>
            <a:ahLst/>
            <a:cxnLst/>
            <a:rect r="r" b="b" t="t" l="l"/>
            <a:pathLst>
              <a:path h="1199026" w="5312682">
                <a:moveTo>
                  <a:pt x="0" y="0"/>
                </a:moveTo>
                <a:lnTo>
                  <a:pt x="5312682" y="0"/>
                </a:lnTo>
                <a:lnTo>
                  <a:pt x="5312682" y="1199026"/>
                </a:lnTo>
                <a:lnTo>
                  <a:pt x="0" y="11990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56750" y="512600"/>
            <a:ext cx="3131192" cy="708312"/>
          </a:xfrm>
          <a:custGeom>
            <a:avLst/>
            <a:gdLst/>
            <a:ahLst/>
            <a:cxnLst/>
            <a:rect r="r" b="b" t="t" l="l"/>
            <a:pathLst>
              <a:path h="708312" w="3131192">
                <a:moveTo>
                  <a:pt x="0" y="0"/>
                </a:moveTo>
                <a:lnTo>
                  <a:pt x="3131192" y="0"/>
                </a:lnTo>
                <a:lnTo>
                  <a:pt x="3131192" y="708312"/>
                </a:lnTo>
                <a:lnTo>
                  <a:pt x="0" y="7083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6614" y="846742"/>
            <a:ext cx="4009494" cy="905056"/>
          </a:xfrm>
          <a:custGeom>
            <a:avLst/>
            <a:gdLst/>
            <a:ahLst/>
            <a:cxnLst/>
            <a:rect r="r" b="b" t="t" l="l"/>
            <a:pathLst>
              <a:path h="905056" w="4009494">
                <a:moveTo>
                  <a:pt x="0" y="0"/>
                </a:moveTo>
                <a:lnTo>
                  <a:pt x="4009494" y="0"/>
                </a:lnTo>
                <a:lnTo>
                  <a:pt x="4009494" y="905056"/>
                </a:lnTo>
                <a:lnTo>
                  <a:pt x="0" y="9050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86391" y="2813879"/>
            <a:ext cx="10458326" cy="583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Removed duplicate rec</a:t>
            </a: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ords to avoid double-counting transactions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Removed empty and irrelevant columns to reduce noise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Handled missing values in critical fields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Standardized categorical values (e.g., gender) for consistency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Filtered valid transactions to ensure accurate revenue analysis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Prepared clean, analysis-ready tables for modeling and visualization</a:t>
            </a:r>
          </a:p>
          <a:p>
            <a:pPr algn="l">
              <a:lnSpc>
                <a:spcPts val="384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8912952" y="9454234"/>
            <a:ext cx="257546" cy="46866"/>
            <a:chOff x="0" y="0"/>
            <a:chExt cx="343395" cy="62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635"/>
              <a:ext cx="342900" cy="61341"/>
            </a:xfrm>
            <a:custGeom>
              <a:avLst/>
              <a:gdLst/>
              <a:ahLst/>
              <a:cxnLst/>
              <a:rect r="r" b="b" t="t" l="l"/>
              <a:pathLst>
                <a:path h="61341" w="342900">
                  <a:moveTo>
                    <a:pt x="171450" y="0"/>
                  </a:moveTo>
                  <a:cubicBezTo>
                    <a:pt x="73406" y="0"/>
                    <a:pt x="0" y="12573"/>
                    <a:pt x="0" y="37211"/>
                  </a:cubicBezTo>
                  <a:cubicBezTo>
                    <a:pt x="0" y="48641"/>
                    <a:pt x="73406" y="61341"/>
                    <a:pt x="171450" y="61341"/>
                  </a:cubicBezTo>
                  <a:cubicBezTo>
                    <a:pt x="269494" y="61341"/>
                    <a:pt x="342900" y="48768"/>
                    <a:pt x="342900" y="37211"/>
                  </a:cubicBezTo>
                  <a:cubicBezTo>
                    <a:pt x="342900" y="12573"/>
                    <a:pt x="269494" y="0"/>
                    <a:pt x="171450" y="0"/>
                  </a:cubicBezTo>
                  <a:close/>
                </a:path>
              </a:pathLst>
            </a:custGeom>
            <a:solidFill>
              <a:srgbClr val="F10707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912952" y="9619768"/>
            <a:ext cx="257546" cy="46436"/>
            <a:chOff x="0" y="0"/>
            <a:chExt cx="343395" cy="619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2900" cy="61849"/>
            </a:xfrm>
            <a:custGeom>
              <a:avLst/>
              <a:gdLst/>
              <a:ahLst/>
              <a:cxnLst/>
              <a:rect r="r" b="b" t="t" l="l"/>
              <a:pathLst>
                <a:path h="61849" w="342900">
                  <a:moveTo>
                    <a:pt x="171450" y="0"/>
                  </a:moveTo>
                  <a:cubicBezTo>
                    <a:pt x="73406" y="0"/>
                    <a:pt x="0" y="12573"/>
                    <a:pt x="0" y="24638"/>
                  </a:cubicBezTo>
                  <a:cubicBezTo>
                    <a:pt x="0" y="37211"/>
                    <a:pt x="73406" y="61849"/>
                    <a:pt x="171450" y="61849"/>
                  </a:cubicBezTo>
                  <a:cubicBezTo>
                    <a:pt x="269494" y="61849"/>
                    <a:pt x="342900" y="37211"/>
                    <a:pt x="342900" y="24638"/>
                  </a:cubicBezTo>
                  <a:cubicBezTo>
                    <a:pt x="342773" y="12573"/>
                    <a:pt x="269494" y="0"/>
                    <a:pt x="171450" y="0"/>
                  </a:cubicBezTo>
                  <a:close/>
                </a:path>
              </a:pathLst>
            </a:custGeom>
            <a:solidFill>
              <a:srgbClr val="F10707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006818" y="4250834"/>
            <a:ext cx="13393212" cy="6036166"/>
          </a:xfrm>
          <a:custGeom>
            <a:avLst/>
            <a:gdLst/>
            <a:ahLst/>
            <a:cxnLst/>
            <a:rect r="r" b="b" t="t" l="l"/>
            <a:pathLst>
              <a:path h="6036166" w="13393212">
                <a:moveTo>
                  <a:pt x="0" y="0"/>
                </a:moveTo>
                <a:lnTo>
                  <a:pt x="13393212" y="0"/>
                </a:lnTo>
                <a:lnTo>
                  <a:pt x="13393212" y="6036166"/>
                </a:lnTo>
                <a:lnTo>
                  <a:pt x="0" y="60361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765906" y="7683664"/>
            <a:ext cx="367616" cy="294092"/>
            <a:chOff x="0" y="0"/>
            <a:chExt cx="490155" cy="39212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34642" y="0"/>
              <a:ext cx="271749" cy="391541"/>
            </a:xfrm>
            <a:custGeom>
              <a:avLst/>
              <a:gdLst/>
              <a:ahLst/>
              <a:cxnLst/>
              <a:rect r="r" b="b" t="t" l="l"/>
              <a:pathLst>
                <a:path h="391541" w="271749">
                  <a:moveTo>
                    <a:pt x="257534" y="0"/>
                  </a:moveTo>
                  <a:cubicBezTo>
                    <a:pt x="-134007" y="158750"/>
                    <a:pt x="37316" y="391541"/>
                    <a:pt x="37316" y="391541"/>
                  </a:cubicBezTo>
                  <a:cubicBezTo>
                    <a:pt x="355451" y="342773"/>
                    <a:pt x="257534" y="0"/>
                    <a:pt x="257534" y="0"/>
                  </a:cubicBezTo>
                  <a:close/>
                </a:path>
              </a:pathLst>
            </a:custGeom>
            <a:solidFill>
              <a:srgbClr val="F10707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86391" y="243692"/>
            <a:ext cx="9768750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Cleaning &amp; Preparation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75574"/>
            <a:ext cx="18584754" cy="10638148"/>
          </a:xfrm>
          <a:custGeom>
            <a:avLst/>
            <a:gdLst/>
            <a:ahLst/>
            <a:cxnLst/>
            <a:rect r="r" b="b" t="t" l="l"/>
            <a:pathLst>
              <a:path h="10638148" w="18584754">
                <a:moveTo>
                  <a:pt x="0" y="0"/>
                </a:moveTo>
                <a:lnTo>
                  <a:pt x="18584754" y="0"/>
                </a:lnTo>
                <a:lnTo>
                  <a:pt x="18584754" y="10638148"/>
                </a:lnTo>
                <a:lnTo>
                  <a:pt x="0" y="10638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85012" y="9142622"/>
            <a:ext cx="5303988" cy="1157128"/>
          </a:xfrm>
          <a:custGeom>
            <a:avLst/>
            <a:gdLst/>
            <a:ahLst/>
            <a:cxnLst/>
            <a:rect r="r" b="b" t="t" l="l"/>
            <a:pathLst>
              <a:path h="1157128" w="5303988">
                <a:moveTo>
                  <a:pt x="0" y="0"/>
                </a:moveTo>
                <a:lnTo>
                  <a:pt x="5303988" y="0"/>
                </a:lnTo>
                <a:lnTo>
                  <a:pt x="5303988" y="1157128"/>
                </a:lnTo>
                <a:lnTo>
                  <a:pt x="0" y="1157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06440" y="5927800"/>
            <a:ext cx="4247454" cy="3887574"/>
          </a:xfrm>
          <a:custGeom>
            <a:avLst/>
            <a:gdLst/>
            <a:ahLst/>
            <a:cxnLst/>
            <a:rect r="r" b="b" t="t" l="l"/>
            <a:pathLst>
              <a:path h="3887574" w="4247454">
                <a:moveTo>
                  <a:pt x="0" y="0"/>
                </a:moveTo>
                <a:lnTo>
                  <a:pt x="4247454" y="0"/>
                </a:lnTo>
                <a:lnTo>
                  <a:pt x="4247454" y="3887574"/>
                </a:lnTo>
                <a:lnTo>
                  <a:pt x="0" y="38875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9604" y="309776"/>
            <a:ext cx="10936239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Exploratory Data Analysis (EDA)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9604" y="3489400"/>
            <a:ext cx="12462882" cy="48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Analyzed revenue </a:t>
            </a: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distribution across transactions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Id</a:t>
            </a: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entified skewed revenue patterns using Pareto analysis (80/20 rule)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</a:t>
            </a: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lored customer purchasing behavior (recency, frequency, spending)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Examined product and brand performance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Compa</a:t>
            </a: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 order patterns across channels (online vs offline)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</a:t>
            </a:r>
            <a:r>
              <a:rPr lang="en-US" sz="320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erived insights to support customer segmentation and modeling</a:t>
            </a:r>
          </a:p>
          <a:p>
            <a:pPr algn="l">
              <a:lnSpc>
                <a:spcPts val="384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4754" y="1235956"/>
            <a:ext cx="6261870" cy="1645676"/>
          </a:xfrm>
          <a:custGeom>
            <a:avLst/>
            <a:gdLst/>
            <a:ahLst/>
            <a:cxnLst/>
            <a:rect r="r" b="b" t="t" l="l"/>
            <a:pathLst>
              <a:path h="1645676" w="6261870">
                <a:moveTo>
                  <a:pt x="0" y="0"/>
                </a:moveTo>
                <a:lnTo>
                  <a:pt x="6261870" y="0"/>
                </a:lnTo>
                <a:lnTo>
                  <a:pt x="6261870" y="1645676"/>
                </a:lnTo>
                <a:lnTo>
                  <a:pt x="0" y="164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99352" y="493750"/>
            <a:ext cx="3361008" cy="761760"/>
          </a:xfrm>
          <a:custGeom>
            <a:avLst/>
            <a:gdLst/>
            <a:ahLst/>
            <a:cxnLst/>
            <a:rect r="r" b="b" t="t" l="l"/>
            <a:pathLst>
              <a:path h="761760" w="3361008">
                <a:moveTo>
                  <a:pt x="0" y="0"/>
                </a:moveTo>
                <a:lnTo>
                  <a:pt x="3361008" y="0"/>
                </a:lnTo>
                <a:lnTo>
                  <a:pt x="3361008" y="761760"/>
                </a:lnTo>
                <a:lnTo>
                  <a:pt x="0" y="761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436800" y="340600"/>
            <a:ext cx="3262322" cy="739394"/>
          </a:xfrm>
          <a:custGeom>
            <a:avLst/>
            <a:gdLst/>
            <a:ahLst/>
            <a:cxnLst/>
            <a:rect r="r" b="b" t="t" l="l"/>
            <a:pathLst>
              <a:path h="739394" w="3262322">
                <a:moveTo>
                  <a:pt x="0" y="0"/>
                </a:moveTo>
                <a:lnTo>
                  <a:pt x="3262322" y="0"/>
                </a:lnTo>
                <a:lnTo>
                  <a:pt x="3262322" y="739394"/>
                </a:lnTo>
                <a:lnTo>
                  <a:pt x="0" y="7393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69550" y="4285900"/>
            <a:ext cx="7674600" cy="1541400"/>
            <a:chOff x="0" y="0"/>
            <a:chExt cx="10232800" cy="2055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232771" cy="2055241"/>
            </a:xfrm>
            <a:custGeom>
              <a:avLst/>
              <a:gdLst/>
              <a:ahLst/>
              <a:cxnLst/>
              <a:rect r="r" b="b" t="t" l="l"/>
              <a:pathLst>
                <a:path h="2055241" w="10232771">
                  <a:moveTo>
                    <a:pt x="0" y="0"/>
                  </a:moveTo>
                  <a:lnTo>
                    <a:pt x="10232771" y="0"/>
                  </a:lnTo>
                  <a:lnTo>
                    <a:pt x="10232771" y="2055241"/>
                  </a:lnTo>
                  <a:lnTo>
                    <a:pt x="0" y="205524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69550" y="7239000"/>
            <a:ext cx="7674600" cy="1095600"/>
            <a:chOff x="0" y="0"/>
            <a:chExt cx="10232800" cy="1460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32771" cy="1460754"/>
            </a:xfrm>
            <a:custGeom>
              <a:avLst/>
              <a:gdLst/>
              <a:ahLst/>
              <a:cxnLst/>
              <a:rect r="r" b="b" t="t" l="l"/>
              <a:pathLst>
                <a:path h="1460754" w="10232771">
                  <a:moveTo>
                    <a:pt x="0" y="0"/>
                  </a:moveTo>
                  <a:lnTo>
                    <a:pt x="10232771" y="0"/>
                  </a:lnTo>
                  <a:lnTo>
                    <a:pt x="10232771" y="1460754"/>
                  </a:lnTo>
                  <a:lnTo>
                    <a:pt x="0" y="146075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81390" y="2522982"/>
            <a:ext cx="7494014" cy="6324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Created Recency, Frequency, and Monetary (RFM) fe</a:t>
            </a: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atures from transaction data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Aggregated transaction-level data into customer-level metrics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Generated RFM scores to quantify customer value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Segmented customers into High, Medium, and Low value groups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Prepared engineered features for predictive modeling and dashboard analysis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757542" y="4285908"/>
            <a:ext cx="6943284" cy="4048462"/>
          </a:xfrm>
          <a:custGeom>
            <a:avLst/>
            <a:gdLst/>
            <a:ahLst/>
            <a:cxnLst/>
            <a:rect r="r" b="b" t="t" l="l"/>
            <a:pathLst>
              <a:path h="4048462" w="6943284">
                <a:moveTo>
                  <a:pt x="0" y="0"/>
                </a:moveTo>
                <a:lnTo>
                  <a:pt x="6943284" y="0"/>
                </a:lnTo>
                <a:lnTo>
                  <a:pt x="6943284" y="4048462"/>
                </a:lnTo>
                <a:lnTo>
                  <a:pt x="0" y="4048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4246">
            <a:off x="1460019" y="7239000"/>
            <a:ext cx="15420462" cy="0"/>
          </a:xfrm>
          <a:prstGeom prst="line">
            <a:avLst/>
          </a:prstGeom>
          <a:ln cap="rnd" w="9525">
            <a:solidFill>
              <a:srgbClr val="F107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4246">
            <a:off x="1460019" y="5826976"/>
            <a:ext cx="15420462" cy="0"/>
          </a:xfrm>
          <a:prstGeom prst="line">
            <a:avLst/>
          </a:prstGeom>
          <a:ln cap="rnd" w="9525">
            <a:solidFill>
              <a:srgbClr val="F107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4246">
            <a:off x="1460019" y="4280526"/>
            <a:ext cx="15420462" cy="0"/>
          </a:xfrm>
          <a:prstGeom prst="line">
            <a:avLst/>
          </a:prstGeom>
          <a:ln cap="rnd" w="9525">
            <a:solidFill>
              <a:srgbClr val="F1070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344809" y="503275"/>
            <a:ext cx="97687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Feature Extraction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5210" y="512750"/>
            <a:ext cx="3733242" cy="990804"/>
          </a:xfrm>
          <a:custGeom>
            <a:avLst/>
            <a:gdLst/>
            <a:ahLst/>
            <a:cxnLst/>
            <a:rect r="r" b="b" t="t" l="l"/>
            <a:pathLst>
              <a:path h="990804" w="3733242">
                <a:moveTo>
                  <a:pt x="0" y="0"/>
                </a:moveTo>
                <a:lnTo>
                  <a:pt x="3733242" y="0"/>
                </a:lnTo>
                <a:lnTo>
                  <a:pt x="3733242" y="990804"/>
                </a:lnTo>
                <a:lnTo>
                  <a:pt x="0" y="9908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9400" y="2031588"/>
            <a:ext cx="3706788" cy="835958"/>
          </a:xfrm>
          <a:custGeom>
            <a:avLst/>
            <a:gdLst/>
            <a:ahLst/>
            <a:cxnLst/>
            <a:rect r="r" b="b" t="t" l="l"/>
            <a:pathLst>
              <a:path h="835958" w="3706788">
                <a:moveTo>
                  <a:pt x="0" y="0"/>
                </a:moveTo>
                <a:lnTo>
                  <a:pt x="3706788" y="0"/>
                </a:lnTo>
                <a:lnTo>
                  <a:pt x="3706788" y="835958"/>
                </a:lnTo>
                <a:lnTo>
                  <a:pt x="0" y="8359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83668" y="1168820"/>
            <a:ext cx="3704318" cy="836310"/>
          </a:xfrm>
          <a:custGeom>
            <a:avLst/>
            <a:gdLst/>
            <a:ahLst/>
            <a:cxnLst/>
            <a:rect r="r" b="b" t="t" l="l"/>
            <a:pathLst>
              <a:path h="836310" w="3704318">
                <a:moveTo>
                  <a:pt x="0" y="0"/>
                </a:moveTo>
                <a:lnTo>
                  <a:pt x="3704318" y="0"/>
                </a:lnTo>
                <a:lnTo>
                  <a:pt x="3704318" y="836310"/>
                </a:lnTo>
                <a:lnTo>
                  <a:pt x="0" y="8363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03928" y="3270050"/>
            <a:ext cx="15850026" cy="7256896"/>
          </a:xfrm>
          <a:custGeom>
            <a:avLst/>
            <a:gdLst/>
            <a:ahLst/>
            <a:cxnLst/>
            <a:rect r="r" b="b" t="t" l="l"/>
            <a:pathLst>
              <a:path h="7256896" w="15850026">
                <a:moveTo>
                  <a:pt x="0" y="0"/>
                </a:moveTo>
                <a:lnTo>
                  <a:pt x="15850026" y="0"/>
                </a:lnTo>
                <a:lnTo>
                  <a:pt x="15850026" y="7256896"/>
                </a:lnTo>
                <a:lnTo>
                  <a:pt x="0" y="72568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144000" y="649707"/>
            <a:ext cx="74975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Machine Learning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2459092"/>
            <a:ext cx="8652347" cy="605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Defined the customer value segment as the target variable</a:t>
            </a:r>
          </a:p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RFM features (Recency, Frequency, Monetary) </a:t>
            </a: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as model inputs</a:t>
            </a:r>
          </a:p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Applied a Random Forest classification model</a:t>
            </a:r>
          </a:p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Split data into training and testing sets</a:t>
            </a:r>
          </a:p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Evaluated model performance using accuracy and a confusion matrix</a:t>
            </a:r>
          </a:p>
          <a:p>
            <a:pPr algn="l" marL="718572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the model to predict customer value based on historical behaviour</a:t>
            </a:r>
          </a:p>
          <a:p>
            <a:pPr algn="l">
              <a:lnSpc>
                <a:spcPts val="3993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400" y="-91550"/>
            <a:ext cx="10377000" cy="10378800"/>
            <a:chOff x="0" y="0"/>
            <a:chExt cx="13836000" cy="138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36014" cy="13838428"/>
            </a:xfrm>
            <a:custGeom>
              <a:avLst/>
              <a:gdLst/>
              <a:ahLst/>
              <a:cxnLst/>
              <a:rect r="r" b="b" t="t" l="l"/>
              <a:pathLst>
                <a:path h="13838428" w="13836014">
                  <a:moveTo>
                    <a:pt x="0" y="0"/>
                  </a:moveTo>
                  <a:lnTo>
                    <a:pt x="13836014" y="0"/>
                  </a:lnTo>
                  <a:lnTo>
                    <a:pt x="13836014" y="13838428"/>
                  </a:lnTo>
                  <a:lnTo>
                    <a:pt x="0" y="13838428"/>
                  </a:ln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0442" y="526606"/>
            <a:ext cx="4898910" cy="1104776"/>
          </a:xfrm>
          <a:custGeom>
            <a:avLst/>
            <a:gdLst/>
            <a:ahLst/>
            <a:cxnLst/>
            <a:rect r="r" b="b" t="t" l="l"/>
            <a:pathLst>
              <a:path h="1104776" w="4898910">
                <a:moveTo>
                  <a:pt x="0" y="0"/>
                </a:moveTo>
                <a:lnTo>
                  <a:pt x="4898910" y="0"/>
                </a:lnTo>
                <a:lnTo>
                  <a:pt x="4898910" y="1104776"/>
                </a:lnTo>
                <a:lnTo>
                  <a:pt x="0" y="1104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71912" y="1298594"/>
            <a:ext cx="3420984" cy="771498"/>
          </a:xfrm>
          <a:custGeom>
            <a:avLst/>
            <a:gdLst/>
            <a:ahLst/>
            <a:cxnLst/>
            <a:rect r="r" b="b" t="t" l="l"/>
            <a:pathLst>
              <a:path h="771498" w="3420984">
                <a:moveTo>
                  <a:pt x="0" y="0"/>
                </a:moveTo>
                <a:lnTo>
                  <a:pt x="3420984" y="0"/>
                </a:lnTo>
                <a:lnTo>
                  <a:pt x="3420984" y="771498"/>
                </a:lnTo>
                <a:lnTo>
                  <a:pt x="0" y="7714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98486" y="2096504"/>
            <a:ext cx="3159814" cy="822800"/>
          </a:xfrm>
          <a:custGeom>
            <a:avLst/>
            <a:gdLst/>
            <a:ahLst/>
            <a:cxnLst/>
            <a:rect r="r" b="b" t="t" l="l"/>
            <a:pathLst>
              <a:path h="822800" w="3159814">
                <a:moveTo>
                  <a:pt x="0" y="0"/>
                </a:moveTo>
                <a:lnTo>
                  <a:pt x="3159814" y="0"/>
                </a:lnTo>
                <a:lnTo>
                  <a:pt x="3159814" y="822800"/>
                </a:lnTo>
                <a:lnTo>
                  <a:pt x="0" y="822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502676" y="381716"/>
            <a:ext cx="5312682" cy="1199026"/>
          </a:xfrm>
          <a:custGeom>
            <a:avLst/>
            <a:gdLst/>
            <a:ahLst/>
            <a:cxnLst/>
            <a:rect r="r" b="b" t="t" l="l"/>
            <a:pathLst>
              <a:path h="1199026" w="5312682">
                <a:moveTo>
                  <a:pt x="0" y="0"/>
                </a:moveTo>
                <a:lnTo>
                  <a:pt x="5312682" y="0"/>
                </a:lnTo>
                <a:lnTo>
                  <a:pt x="5312682" y="1199026"/>
                </a:lnTo>
                <a:lnTo>
                  <a:pt x="0" y="11990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34334" y="381700"/>
            <a:ext cx="2367216" cy="616400"/>
          </a:xfrm>
          <a:custGeom>
            <a:avLst/>
            <a:gdLst/>
            <a:ahLst/>
            <a:cxnLst/>
            <a:rect r="r" b="b" t="t" l="l"/>
            <a:pathLst>
              <a:path h="616400" w="2367216">
                <a:moveTo>
                  <a:pt x="0" y="0"/>
                </a:moveTo>
                <a:lnTo>
                  <a:pt x="2367216" y="0"/>
                </a:lnTo>
                <a:lnTo>
                  <a:pt x="2367216" y="616400"/>
                </a:lnTo>
                <a:lnTo>
                  <a:pt x="0" y="6164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71100" y="9201150"/>
            <a:ext cx="8007000" cy="1098600"/>
            <a:chOff x="0" y="0"/>
            <a:chExt cx="10676000" cy="1464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76001" cy="1464818"/>
            </a:xfrm>
            <a:custGeom>
              <a:avLst/>
              <a:gdLst/>
              <a:ahLst/>
              <a:cxnLst/>
              <a:rect r="r" b="b" t="t" l="l"/>
              <a:pathLst>
                <a:path h="1464818" w="10676001">
                  <a:moveTo>
                    <a:pt x="0" y="0"/>
                  </a:moveTo>
                  <a:lnTo>
                    <a:pt x="10676001" y="0"/>
                  </a:lnTo>
                  <a:lnTo>
                    <a:pt x="10676001" y="1464818"/>
                  </a:lnTo>
                  <a:lnTo>
                    <a:pt x="0" y="1464818"/>
                  </a:lnTo>
                  <a:close/>
                </a:path>
              </a:pathLst>
            </a:custGeom>
            <a:solidFill>
              <a:srgbClr val="EEEEEE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925560" y="8937050"/>
            <a:ext cx="7106486" cy="1264600"/>
          </a:xfrm>
          <a:custGeom>
            <a:avLst/>
            <a:gdLst/>
            <a:ahLst/>
            <a:cxnLst/>
            <a:rect r="r" b="b" t="t" l="l"/>
            <a:pathLst>
              <a:path h="1264600" w="7106486">
                <a:moveTo>
                  <a:pt x="0" y="0"/>
                </a:moveTo>
                <a:lnTo>
                  <a:pt x="7106486" y="0"/>
                </a:lnTo>
                <a:lnTo>
                  <a:pt x="7106486" y="1264600"/>
                </a:lnTo>
                <a:lnTo>
                  <a:pt x="0" y="12646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998824" y="4109018"/>
            <a:ext cx="5228118" cy="5669552"/>
          </a:xfrm>
          <a:custGeom>
            <a:avLst/>
            <a:gdLst/>
            <a:ahLst/>
            <a:cxnLst/>
            <a:rect r="r" b="b" t="t" l="l"/>
            <a:pathLst>
              <a:path h="5669552" w="5228118">
                <a:moveTo>
                  <a:pt x="0" y="0"/>
                </a:moveTo>
                <a:lnTo>
                  <a:pt x="5228118" y="0"/>
                </a:lnTo>
                <a:lnTo>
                  <a:pt x="5228118" y="5669552"/>
                </a:lnTo>
                <a:lnTo>
                  <a:pt x="0" y="566955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90442" y="391225"/>
            <a:ext cx="749757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Visualization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442" y="2106029"/>
            <a:ext cx="8652347" cy="6553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Built an interactive dashboard to visualize customer value and behavior</a:t>
            </a:r>
          </a:p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Integrated multiple tables using a structured d</a:t>
            </a: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ata model</a:t>
            </a:r>
          </a:p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Displayed key KPIs such as total customers and revenue</a:t>
            </a:r>
          </a:p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An</a:t>
            </a: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alyzed customer segments using RFM metrics</a:t>
            </a:r>
          </a:p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Used Key Influencers visual to identify drivers of high-value customers</a:t>
            </a:r>
          </a:p>
          <a:p>
            <a:pPr algn="l" marL="718571" indent="-359286" lvl="1">
              <a:lnSpc>
                <a:spcPts val="3993"/>
              </a:lnSpc>
              <a:buFont typeface="Arial"/>
              <a:buChar char="•"/>
            </a:pPr>
            <a:r>
              <a:rPr lang="en-US" sz="3328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Enabled filters and slicers for dynamic exploration</a:t>
            </a:r>
          </a:p>
          <a:p>
            <a:pPr algn="l">
              <a:lnSpc>
                <a:spcPts val="399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91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64754" y="1235956"/>
            <a:ext cx="6261870" cy="1645676"/>
          </a:xfrm>
          <a:custGeom>
            <a:avLst/>
            <a:gdLst/>
            <a:ahLst/>
            <a:cxnLst/>
            <a:rect r="r" b="b" t="t" l="l"/>
            <a:pathLst>
              <a:path h="1645676" w="6261870">
                <a:moveTo>
                  <a:pt x="0" y="0"/>
                </a:moveTo>
                <a:lnTo>
                  <a:pt x="6261870" y="0"/>
                </a:lnTo>
                <a:lnTo>
                  <a:pt x="6261870" y="1645676"/>
                </a:lnTo>
                <a:lnTo>
                  <a:pt x="0" y="16456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490876" y="3529142"/>
            <a:ext cx="3361008" cy="761760"/>
          </a:xfrm>
          <a:custGeom>
            <a:avLst/>
            <a:gdLst/>
            <a:ahLst/>
            <a:cxnLst/>
            <a:rect r="r" b="b" t="t" l="l"/>
            <a:pathLst>
              <a:path h="761760" w="3361008">
                <a:moveTo>
                  <a:pt x="0" y="0"/>
                </a:moveTo>
                <a:lnTo>
                  <a:pt x="3361008" y="0"/>
                </a:lnTo>
                <a:lnTo>
                  <a:pt x="3361008" y="761760"/>
                </a:lnTo>
                <a:lnTo>
                  <a:pt x="0" y="7617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99352" y="493750"/>
            <a:ext cx="3361008" cy="761760"/>
          </a:xfrm>
          <a:custGeom>
            <a:avLst/>
            <a:gdLst/>
            <a:ahLst/>
            <a:cxnLst/>
            <a:rect r="r" b="b" t="t" l="l"/>
            <a:pathLst>
              <a:path h="761760" w="3361008">
                <a:moveTo>
                  <a:pt x="0" y="0"/>
                </a:moveTo>
                <a:lnTo>
                  <a:pt x="3361008" y="0"/>
                </a:lnTo>
                <a:lnTo>
                  <a:pt x="3361008" y="761760"/>
                </a:lnTo>
                <a:lnTo>
                  <a:pt x="0" y="7617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06702" y="8479948"/>
            <a:ext cx="3082296" cy="822798"/>
          </a:xfrm>
          <a:custGeom>
            <a:avLst/>
            <a:gdLst/>
            <a:ahLst/>
            <a:cxnLst/>
            <a:rect r="r" b="b" t="t" l="l"/>
            <a:pathLst>
              <a:path h="822798" w="3082296">
                <a:moveTo>
                  <a:pt x="0" y="0"/>
                </a:moveTo>
                <a:lnTo>
                  <a:pt x="3082296" y="0"/>
                </a:lnTo>
                <a:lnTo>
                  <a:pt x="3082296" y="822798"/>
                </a:lnTo>
                <a:lnTo>
                  <a:pt x="0" y="8227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5848" y="6938964"/>
            <a:ext cx="5182348" cy="1141690"/>
          </a:xfrm>
          <a:custGeom>
            <a:avLst/>
            <a:gdLst/>
            <a:ahLst/>
            <a:cxnLst/>
            <a:rect r="r" b="b" t="t" l="l"/>
            <a:pathLst>
              <a:path h="1141690" w="5182348">
                <a:moveTo>
                  <a:pt x="0" y="0"/>
                </a:moveTo>
                <a:lnTo>
                  <a:pt x="5182348" y="0"/>
                </a:lnTo>
                <a:lnTo>
                  <a:pt x="5182348" y="1141690"/>
                </a:lnTo>
                <a:lnTo>
                  <a:pt x="0" y="1141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-607550" y="6645636"/>
            <a:ext cx="557390" cy="293664"/>
            <a:chOff x="0" y="0"/>
            <a:chExt cx="743187" cy="391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08" y="508"/>
              <a:ext cx="742188" cy="391033"/>
            </a:xfrm>
            <a:custGeom>
              <a:avLst/>
              <a:gdLst/>
              <a:ahLst/>
              <a:cxnLst/>
              <a:rect r="r" b="b" t="t" l="l"/>
              <a:pathLst>
                <a:path h="391033" w="742188">
                  <a:moveTo>
                    <a:pt x="566801" y="0"/>
                  </a:moveTo>
                  <a:cubicBezTo>
                    <a:pt x="458724" y="0"/>
                    <a:pt x="354203" y="107696"/>
                    <a:pt x="317373" y="212598"/>
                  </a:cubicBezTo>
                  <a:lnTo>
                    <a:pt x="246634" y="212598"/>
                  </a:lnTo>
                  <a:cubicBezTo>
                    <a:pt x="104902" y="212598"/>
                    <a:pt x="0" y="283464"/>
                    <a:pt x="0" y="353822"/>
                  </a:cubicBezTo>
                  <a:lnTo>
                    <a:pt x="0" y="391033"/>
                  </a:lnTo>
                  <a:lnTo>
                    <a:pt x="742188" y="391033"/>
                  </a:lnTo>
                  <a:lnTo>
                    <a:pt x="742188" y="36703"/>
                  </a:lnTo>
                  <a:cubicBezTo>
                    <a:pt x="671322" y="0"/>
                    <a:pt x="637667" y="0"/>
                    <a:pt x="566801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50496" y="6248364"/>
            <a:ext cx="2497658" cy="690934"/>
          </a:xfrm>
          <a:custGeom>
            <a:avLst/>
            <a:gdLst/>
            <a:ahLst/>
            <a:cxnLst/>
            <a:rect r="r" b="b" t="t" l="l"/>
            <a:pathLst>
              <a:path h="690934" w="2497658">
                <a:moveTo>
                  <a:pt x="0" y="0"/>
                </a:moveTo>
                <a:lnTo>
                  <a:pt x="2497658" y="0"/>
                </a:lnTo>
                <a:lnTo>
                  <a:pt x="2497658" y="690934"/>
                </a:lnTo>
                <a:lnTo>
                  <a:pt x="0" y="69093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179514" y="3364729"/>
            <a:ext cx="11928972" cy="264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78"/>
              </a:lnSpc>
            </a:pPr>
            <a:r>
              <a:rPr lang="en-US" sz="17398">
                <a:solidFill>
                  <a:srgbClr val="FFFFFF"/>
                </a:solidFill>
                <a:latin typeface="Sedgwick Ave"/>
                <a:ea typeface="Sedgwick Ave"/>
                <a:cs typeface="Sedgwick Ave"/>
                <a:sym typeface="Sedgwick Ave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DAHAm2ggsmU</dc:identifier>
  <dcterms:modified xsi:type="dcterms:W3CDTF">2011-08-01T06:04:30Z</dcterms:modified>
  <cp:revision>1</cp:revision>
  <dc:title>Copy of ride-your-bike-XL.pptx</dc:title>
</cp:coreProperties>
</file>